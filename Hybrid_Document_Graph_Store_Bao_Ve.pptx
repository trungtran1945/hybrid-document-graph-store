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BD5F0"/>
                </a:solidFill>
                <a:latin typeface="Calibri"/>
              </a:defRPr>
            </a:pPr>
            <a:r>
              <a:t>HỌC VIỆN CÔNG NGHỆ BƯU CHÍNH VIỄN THÔNG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Khoa Công nghệ Thông tin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A2B8"/>
                </a:solidFill>
                <a:latin typeface="Calibri"/>
              </a:defRPr>
            </a:pPr>
            <a:r>
              <a:t>ĐỀ ÁN MÔN HỌC CƠ SỞ DỮ LIỆU PHÂN TÁN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Hybrid Document-Graph Store:</a:t>
            </a:r>
            <a:br/>
            <a:r>
              <a:t>Xây dựng Cơ sở Tri thức Y tế Phân tán</a:t>
            </a:r>
            <a:br/>
            <a:r>
              <a:t>kết hợp BM25F và METIS Graph Partitioning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Hybrid Document-Graph Store: Distributed Medical 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Giảng viên: Lê Hà Thanh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Sinh viên: Trần Hữu Trung  –  MSSV: N23DCCN200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Lớp: D23CQCN03-N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Học kỳ: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Giới thiệu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Bài toán, Mục tiêu, Phạm vi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2/15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Truy vấn y tế thực tế cần kết hợp văn bản phi cấu trúc (hồ sơ bệnh nhân) với quan hệ ngữ nghĩa (đồ thị tương quan bệnh)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Hệ thống đơn mô hình (Document hoặc Graph) không thể trả lời hiệu quả câu hỏi lai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Cần thiết kế hệ thống phân tán kết hợp, tối ưu chi phí Join giữa 2 engine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Phải xử lý được trường hợp thất bại (node failure) trong môi trường phân tán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Mục tiêu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Xây dựng Hybrid Document-Graph Store cho tri thức y tế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Document Engine: tìm kiếm toàn văn BM25F (Whoosh)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Graph Engine: duyệt đồ thị + phân vùng METIS Edge-Cut (NetworkX)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Hybrid Engine: chấm điểm kết hợp + 3 chiến lược Join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Phân tích chi phí Join &amp; kịch bản graceful degradation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Cơ sở 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Özsu &amp; Valduriez  –  Principles of Distributed Database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3/15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4754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BM25F (Robertson &amp; Zaragoza, 2009)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Xếp hạng tài liệu đa trường (5 trường văn bản y tế)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Mở rộng từ BM25 Okapi chuẩn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k₁=1.2 (bão hòa TF), b=0.75 (chuẩn hóa độ dài)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MultifieldParser + OrGroup cho token matching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Hiệu quả hơn TF-IDF nhờ field-weight và saturation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63040"/>
            <a:ext cx="3566160" cy="4754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METIS (Karypis &amp; Kumar, 1998)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Phân vùng đồ thị đa cấp (Multilevel Graph Partitioning)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Recursive Bisection: 3 bước Coarsening → Partition → Refinement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Edge-Cut partitioning: tối thiểu hóa cạnh cắt ngang phân vùng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Heavy Edge Matching + Kernighan-Lin Refinement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Phù hợp đồ thị thưa (density ~0.04)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463040"/>
            <a:ext cx="3566160" cy="4754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Hybrid Scoring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score = w₁ × norm(BM25F) + w₂ × graph_importance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Trọng số khoảng cách (hop distance):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  0-hop (cùng lĩnh vực) → 1.0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  1-hop → 0.8  |  2-hop → 0.5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  3-hop → 0.2  |  ngoài đồ thị → 0.1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Mặc định: w₁ = w₂ = 0.5 (cân bằng)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Kiến trúc 4 tầng (4-Tier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4/15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463040"/>
            <a:ext cx="9418320" cy="8686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153619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Tầng 4: User Interface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01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Flask Templates + D3.js + Bootstrap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514600"/>
            <a:ext cx="9418320" cy="8686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5877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Tầng 3: 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535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Flask REST Endpoints | CORS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66160"/>
            <a:ext cx="9418320" cy="8686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36393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Tầng 2: Engine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0507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Document Engine (Whoosh) + Graph Engine (NetworkX) + Hybrid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617719"/>
            <a:ext cx="94183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469087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Tầng 1: 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5663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JSON files + Whoosh Index + METIS partitions (.gpickle, partitions.txt)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228600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478A"/>
                </a:solidFill>
                <a:latin typeface="Calibri"/>
              </a:defRPr>
            </a:pPr>
            <a:r>
              <a:t>Trình</a:t>
            </a:r>
            <a:br/>
            <a:r>
              <a:t>duyệt</a:t>
            </a:r>
            <a:br/>
            <a:r>
              <a:t>(Client)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338328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Dữ liệu</a:t>
            </a:r>
            <a:br/>
            <a:r>
              <a:t>(Disk)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DF2E9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Luồng: POST /api/query → Document Search (BM25F) → Graph Traversal (BFS/DFS) → Hybrid Join &amp; Scoring → JSON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Công nghệ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Tech Stack | 500 hồ sơ bệnh nhân, 200 nút, ~800 cạnh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5/15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Công nghệ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Phiên bản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Mục đích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3.9+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Ngôn ngữ lập trình chính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REST API + CORS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Whoosh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2.7.4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BM25F full-text search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Đồ thị &amp; traversal algorithms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METIS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0.2a5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Edge-Cut graph partitioning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NumPy / Numba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1.26.4 / 0.59.1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Tính toán khoa học + JIT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Pandas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2.2.2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Phân tích chi phí Join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25.2.0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Sinh dữ liệu tổng hợp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D3.js / Chart.js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v7 / 4.4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Visualization đồ thị &amp; biểu đồ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2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Bootstrap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Giao diện Dark Theme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467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478A"/>
                </a:solidFill>
                <a:latin typeface="Calibri"/>
              </a:defRPr>
            </a:pPr>
            <a:r>
              <a:t>Bộ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500 hồ sơ bệnh nhân tổng hợp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18-85 tuổi, 3 giới tính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Mức độ: 1 (5%) → 5 (15%)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~200 nút đồ thị (bệnh, triệu chứng, ...)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~800 cạnh có trọng số (0.0-1.0)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10 lĩnh vực y tế (Cardiology, ...)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4 phân vùng METIS (Edge-Cut)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51 bệnh, 70 triệu chứng, 40 thuốc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Document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Whoosh BM25F  |  Tìm kiếm toàn văn trên 500 hồ sơ bệnh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6/15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Schema BM25F (5 trường searchable, boost=1.0)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Trường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Kiểu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Ghi chú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chief_complaint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Triệu chứng chính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symptoms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Danh sách triệu chứng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medical_history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Tiền sử bệnh án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initial_diagnosis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Chẩn đoán bác sĩ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full_text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Toàn văn (tổng hợp 4 trường)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department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Lọc: 10 chuyên khoa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Lọc: mức độ 1-5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Lọc: Nam/Nữ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0" y="1463040"/>
            <a:ext cx="5303520" cy="4754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Đặc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Thuật toán BM25F (k₁=1.2, b=0.75) với saturation effect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MultifieldParser + OrGroup cho tìm kiếm đa trường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StemmingAnalyzer cho văn bản y tế tiếng Anh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Lọc theo khoa, mức độ nghiêm trọng, giới tính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Whoosh: pure Python, không cần cài Elasticsearch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Chỉ mục bền vững (persistent) + thống kê truy vấn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DocumentIndexManager hỗ trợ chỉ mục phân tán sau này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Graph Engine &amp; Duyệt đồ thị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NetworkX  |  200 nút, ~800 cạnh, 3 thuật toán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7/15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Cấu trúc đồ thị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5029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Loại nút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Số lượng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Lĩnh vực y tế (Medical Field)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(Cardiology, Neurology, ...)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Bệnh (Disease)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Triệu chứng (Symptom)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~70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Thuốc (Drug)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Tổng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Loại cạnh: disease_to_symptom, disease_to_disease, symptom_to_symptom, disease_to_field, disease_to_drug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3 thuật toán duyệt đồ thị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41953"/>
              </p:ext>
            </p:extLst>
          </p:nvPr>
        </p:nvGraphicFramePr>
        <p:xfrm>
          <a:off x="5943601" y="192024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5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Thuật toán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Độ phức tạp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Kết quả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Dùng khi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BFS (mặc định)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O(V+E)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Đường đi ngắn (theo hop)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Cần hop distance, đồ thị thưa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O(V+E)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Duyệt sâu toàn bộ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 err="1"/>
                        <a:t>Khám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phá</a:t>
                      </a:r>
                      <a:r>
                        <a:rPr dirty="0"/>
                        <a:t> subgraph </a:t>
                      </a:r>
                      <a:r>
                        <a:rPr dirty="0" err="1"/>
                        <a:t>đầy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đủ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O((V+E)logV)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Đường đi ngắn (có trọng số)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Cạnh correlation weight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943600" y="4206240"/>
            <a:ext cx="576072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Tính năng duyệt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6634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BFS mặc định: đảm bảo hop count chính xác nhất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Hỗ trợ lọc theo loại nút khi duyệt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Đo lường depth distribution và partition coverage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Tính graph_importance từ khoảng cách đến lĩnh vực mục tiêu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Phân vùng METIS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Edge-Cut vs Vertex-Cut  |  Recursive Bisection  |  4 phân vùng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8/15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So sánh Edge-Cut vs Vertex-Cut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Tiêu chí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Edge-Cut (Lựa chọn)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Vertex-Cut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Định nghĩa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Mỗi nút thuộc 1 partition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Mỗi cạnh thuộc 1 partition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 phí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Chỉ trả phí cut edges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Phải replicate vertex 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Phù hợp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Đồ thị thưa (~0.04 density)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Đồ thị dày (social graph)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Đồ thị y tế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Phù hợp (ECR &lt; 0.25 mục tiêu)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Không tối ưu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Cài đặt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gpmetis trực tiếp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Cần tiền xử lý phức tạp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663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8A"/>
                </a:solidFill>
                <a:latin typeface="Calibri"/>
              </a:defRPr>
            </a:pPr>
            <a:r>
              <a:t>Recursive Bisection: 3 bước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1. Bước 1 - Coarsening: Heavy Edge Matching giảm G → G' (&lt; 100 nút)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2. Bước 2 - Initial Partitioning: Greedy Graph Growing chia G' thành k=4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3. Bước 3 - Uncoarsening &amp; Refinement: Kernighan-Lin tối thiểu hóa edge-cut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Chỉ số chất lượng phân vùng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Edge-Cut Ratio (ECR) = |E_cut| / |E_total|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Mục tiêu: ECR &lt; 0.25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Balance Factor = max(|Pi|) / avg(|Pj|)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Mục tiêu: Balance Factor ≤ 1.2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Intra-Partition Density &gt; 0.3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Thông tin mỗi phân vùng: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Số nút, số cạnh nội bộ, số cạnh cắt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Edge-Cut Ratio toàn cục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846320"/>
            <a:ext cx="4846320" cy="914400"/>
          </a:xfrm>
          <a:prstGeom prst="rect">
            <a:avLst/>
          </a:prstGeom>
          <a:solidFill>
            <a:srgbClr val="FDF2E9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4892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Mô phỏng 4 nút phân tán (distributed nodes).</a:t>
            </a:r>
            <a:br/>
            <a:r>
              <a:t>Fallback hash-based partitioning khi METIS không khả dụng (ECR ~0.40).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Hybrid Query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Quy trình 4 bước &amp; Công thức chấm điểm kết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9/15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560320" cy="16459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Bước 1</a:t>
            </a:r>
            <a:br/>
            <a:r>
              <a:t>Nhận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Calibri"/>
              </a:defRPr>
            </a:pPr>
            <a:r>
              <a:t>query_text</a:t>
            </a:r>
            <a:br/>
            <a:r>
              <a:t>target_field</a:t>
            </a:r>
            <a:br/>
            <a:r>
              <a:t>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A2B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560320" cy="16459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Bước 2</a:t>
            </a:r>
            <a:br/>
            <a:r>
              <a:t>Document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Calibri"/>
              </a:defRPr>
            </a:pPr>
            <a:r>
              <a:t>BM25F trên</a:t>
            </a:r>
            <a:br/>
            <a:r>
              <a:t>Whoosh index</a:t>
            </a:r>
            <a:br/>
            <a:r>
              <a:t>Top-k kết quả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A2B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560320" cy="16459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Bước 3</a:t>
            </a:r>
            <a:br/>
            <a:r>
              <a:t>Graph Traversal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Calibri"/>
              </a:defRPr>
            </a:pPr>
            <a:r>
              <a:t>BFS/DFS từ</a:t>
            </a:r>
            <a:br/>
            <a:r>
              <a:t>target_field</a:t>
            </a:r>
            <a:br/>
            <a:r>
              <a:t>max_depth=3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A2B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554480"/>
            <a:ext cx="2560320" cy="16459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Bước 4</a:t>
            </a:r>
            <a:br/>
            <a:r>
              <a:t>Hybrid 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Calibri"/>
              </a:defRPr>
            </a:pPr>
            <a:r>
              <a:t>Join theo</a:t>
            </a:r>
            <a:br/>
            <a:r>
              <a:t>tên bệnh</a:t>
            </a:r>
            <a:br/>
            <a:r>
              <a:t>Combined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11247120" cy="1280160"/>
          </a:xfrm>
          <a:prstGeom prst="rect">
            <a:avLst/>
          </a:prstGeom>
          <a:solidFill>
            <a:srgbClr val="FDF2E9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Công thức chấm điểm kết hợp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A2B8"/>
                </a:solidFill>
                <a:latin typeface="Calibri"/>
              </a:defRPr>
            </a:pPr>
            <a:r>
              <a:t>Combined Score = text_weight × normalize(BM25F_score) + graph_weight × graph_importance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Trọng số: 0-hop → 1.0  |  1-hop → 0.8  |  2-hop → 0.5  |  3-hop → 0.2  |  ngoài đồ thị → 0.1  |  mặc định: w₁=w₂=0.5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530352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1663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 chiến lược Join: Filter-After-Join (N×G), Index Nested-Loop (k×logG), Hash Join (G+k)</a:t>
            </a:r>
            <a:br/>
            <a:r>
              <a:t>3 thuật toán duyệt: BFS (mặc định), DFS, Dijkstra</a:t>
            </a:r>
            <a:br/>
            <a:r>
              <a:t>Khóa Join: tên bệnh (disease name) – khóa ngữ nghĩa xuyên suốt 2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120640"/>
            <a:ext cx="548640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51663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Điểm mạnh: Kết hợp độ liên quan ngữ nghĩa (BM25F score)</a:t>
            </a:r>
            <a:br/>
            <a:r>
              <a:t>với tầm quan trọng khoảng cách đồ thị (graph distance)</a:t>
            </a:r>
            <a:br/>
            <a:r>
              <a:t>Lọc theo khoa, mức độ nghiêm trọng, giới tính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Phân tích Chi phí Ghép nối (Join Cost)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So sánh 3 chiến lược &amp; Mô hình chi phí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10/15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Chiến lược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Độ phức tạp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Chi phí I/O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Chi phí CPU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Chi phí Mạng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Dùng khi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Filter-After-Join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O(N×G)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Cao (full scan)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Thấp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Thấp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 &lt; 50, query mơ hồ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Index Nested-Loop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O(k×logG)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Trung bình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Trung bình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Trung bình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 = 20-50, G lớn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Hash Join (tối ưu)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O(G + k)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Thấp (build hash)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Cao (hash build)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Thấp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 &gt; 50, cả 2 lớn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478A"/>
                </a:solidFill>
                <a:latin typeface="Calibri"/>
              </a:defRPr>
            </a:pPr>
            <a:r>
              <a:t>Mô hình chi phí 3 thành phần (Özsu &amp; Valduriez, 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•  Chi phí I/O = N_docs × t_seek + k × t_transfer = 500 × 0.1ms + k × 0.01ms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•  Chi phí CPU = (n_terms × n_docs) × 0.001ms + (V_visited + E_visited) × 0.001ms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•  Chi phí mạng = |E_cut| × latency = cut_edges × 1ms (local network)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•  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•  Cost Tier (phân loại chi phí): LOW &lt; 100 ops  |  MEDIUM &lt; 1000 ops  |  HIGH ≥ 1000 ops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•  Edge-Cut Ratio (ECR) trong cost: network_cost = partition_access × 50.0 × ECR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Kịch bản Thất bại (Failure Scenarios)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Graceful Degradation trong Hệ thống Phân tán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11/15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731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Kịch bản 1: METIS mất cân bằng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Khi Medical Field tập trung vào 1-2 partition → ECR tăng &gt; 0.25.</a:t>
            </a:r>
            <a:br/>
            <a:r>
              <a:t>Hệ thống log cảnh báo + hiển thị partition imbalance trong Analysis page.</a:t>
            </a:r>
            <a:br/>
            <a:r>
              <a:t>Khắc phục: tái cấu hình phân vùng hoặc fallback hash partitioning.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73152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1115568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Kịch bản 2: Kill Node B (Partition Down)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Giả lập mất 1 partition METIS: thay đổi n_parts từ 4 → 3 trong config.yaml.</a:t>
            </a:r>
            <a:br/>
            <a:r>
              <a:t>Hệ thống tự động rebalance, phục vụ từ 3 partitions còn lại (graceful degradation).</a:t>
            </a:r>
            <a:br/>
            <a:r>
              <a:t>Tác động: network cost tăng (internal edges trở thành cut edges), ECR tăng.</a:t>
            </a:r>
            <a:br/>
            <a:r>
              <a:t>Khi khôi phục: tự động rebalancing về trạng thái tối ưu (self-healing).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4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977640"/>
            <a:ext cx="1115568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Kịch bản 3: METIS binary không khả dụng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Tự động fallback sang hash-based partitioning (degree-based stratified).</a:t>
            </a:r>
            <a:br/>
            <a:r>
              <a:t>Hệ thống vẫn hoạt động đúng chức năng, không crash.</a:t>
            </a:r>
            <a:br/>
            <a:r>
              <a:t>Tác động: ECR tăng từ &lt; 0.25 lên ~0.40, chất lượng phân vùng giảm.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57799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257799"/>
            <a:ext cx="1115568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19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Kịch bản 4: Graph distance vượt ngưỡng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39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Khi graph_distance &gt; 3 hops, graph_importance tự động = 0.1 (fallback).</a:t>
            </a:r>
            <a:br/>
            <a:r>
              <a:t>Đảm bảo node ở xa lĩnh vực mục tiêu vẫn có điểm số dương.</a:t>
            </a:r>
            <a:br/>
            <a:r>
              <a:t>Kết quả truy vấn vẫn hữu ích dù không nằm trong vùng lân cận.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Demo Video: Kill Node B &amp; Graceful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Quay video mô phỏng trường hợp thất bại trong hệ thống phân tán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12/15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7589520" cy="4114800"/>
          </a:xfrm>
          <a:prstGeom prst="rect">
            <a:avLst/>
          </a:prstGeom>
          <a:solidFill>
            <a:srgbClr val="222222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▶  CHÈN VIDEO DEMO TẠI ĐÂY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7472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 err="1"/>
              <a:t>Kịch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Kill Node B: </a:t>
            </a:r>
            <a:r>
              <a:rPr dirty="0" err="1"/>
              <a:t>mất</a:t>
            </a:r>
            <a:r>
              <a:rPr dirty="0"/>
              <a:t> Partition 2, graceful degradation,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hồi</a:t>
            </a:r>
            <a:br>
              <a:rPr dirty="0"/>
            </a:b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: 3-5 </a:t>
            </a:r>
            <a:r>
              <a:rPr dirty="0" err="1"/>
              <a:t>phút</a:t>
            </a:r>
            <a:r>
              <a:rPr dirty="0"/>
              <a:t>  | 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: 1280×720 </a:t>
            </a:r>
            <a:r>
              <a:rPr dirty="0" err="1"/>
              <a:t>trở</a:t>
            </a:r>
            <a:r>
              <a:rPr dirty="0"/>
              <a:t> </a:t>
            </a:r>
            <a:r>
              <a:rPr dirty="0" err="1"/>
              <a:t>lên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Đánh giá theo Tiêu chí Özsu &amp; Valduriez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7 tiêu chí cho Hệ quản trị CSDL Phân tán (DDBMS)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13/15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Tiêu chí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Triển khai trong đề tài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Đánh giá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Distribution Transparency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/api/query ẩn hoàn toàn partition logic khỏi người dùng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Đạt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Replication Transparency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Fallback METIS → hash partitioning đảm bảo availability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⚠ Một phần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Fragmentation Transparency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METIS partitions hoàn toàn trong suốt với người dùng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Đạt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Autonomy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 Engine và Graph Engine có schema độc lập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Đạt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Query Optimization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chiến lược Join + phân tích chi phí (Hash Join tối ưu)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Đạt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Transaction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Read-only queries (trong scope đề tài)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❓ 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Performance &amp; Scalability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Whoosh O(logN) + METIS giảm traversal cost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Đạt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Dựa trên 12 quy tắc của Date (1987) và 7 tiêu chí Özsu &amp; Valduriez (2020)</a:t>
            </a:r>
            <a:br/>
            <a:r>
              <a:t>Kết luận: 5/7 tiêu chí đạt, 1 phần, 1 N/A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5F0"/>
                </a:solidFill>
                <a:latin typeface="Calibri"/>
              </a:defRPr>
            </a:pPr>
            <a:r>
              <a:t>Thành tựu, Hạn chế, Hướng phát triển &amp; Tiêu chí đánh giá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Hybrid Document-Graph Store | CSDL Phân Tán | PTIT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14/15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840480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Thành tựu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✅ Hệ thống Hybrid Document + Graph hoàn chỉnh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✅ BM25F multi-field (500 hồ sơ bệnh nhân)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✅ METIS Edge-Cut (200 nút, ~800 cạnh, 4 PV)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✅ 3 chiến lược Join + Combined scoring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✅ Giao diện web 3 trang (D3.js, Chart.js)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✅ 2 chế độ: Flask API + Standalone 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840480" cy="246888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Hạn chế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❌ Dữ liệu tổng hợp (500 BN), chưa validation thực tế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❌ Phân tán logic (1 máy), chưa network overhead thực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❌ Read-only, chưa distributed transaction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❌ Join key (disease name) dễ lỗi chuẩn hóa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❌ METIS dependency (fallback hash kém hơn)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463040"/>
            <a:ext cx="3840480" cy="24688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Hướng phát triển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19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💡 Triển khai multi-node (Kafka/gRPC)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💡 Tích hợp LLM embedding (FAISS)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💡 Graph Neural Network cho scoring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💡 Federated Learning (quyền riêng tư y tế)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💡 Thêm chiều thời gian (temporal analysis)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11704320" cy="210312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8A"/>
                </a:solidFill>
                <a:latin typeface="Calibri"/>
              </a:defRPr>
            </a:pPr>
            <a:r>
              <a:t>Tiêu chí đánh giá đồ án (thang điểm 100)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4526280"/>
          <a:ext cx="11430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Tiêu chí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Điểm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Nội dung</a:t>
                      </a:r>
                    </a:p>
                  </a:txBody>
                  <a:tcPr anchor="ctr">
                    <a:solidFill>
                      <a:srgbClr val="1A4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METIS Graph Partitioning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/15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Edge-Cut, Recursive Bisection, 4 partitions, ECR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Multi-Model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 Document + Graph qua disease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Graph Traversal Algorithms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/15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BFS, DFS, Dijkstra + distance scoring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 Cost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strategies: Filter, Index Nested-Loop, Hash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Tài liệu (Proposal + Design + Report)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/15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tài liệu docx + slide bảo vệ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 Code &amp; README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Code quality, docstring, hướng dẫn cài đặt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Video Demo (3-5 phút, failure cases)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/10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 Kill Node B, graceful degradation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Tài liệu Tham khảo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[1] M. T. </a:t>
            </a:r>
            <a:r>
              <a:rPr dirty="0" err="1"/>
              <a:t>Özsu</a:t>
            </a:r>
            <a:r>
              <a:rPr dirty="0"/>
              <a:t> and P. </a:t>
            </a:r>
            <a:r>
              <a:rPr dirty="0" err="1"/>
              <a:t>Valduriez</a:t>
            </a:r>
            <a:r>
              <a:rPr dirty="0"/>
              <a:t>, Principles of Distributed Database Systems, 4th ed. Springer, 2020.</a:t>
            </a:r>
          </a:p>
          <a:p>
            <a:pPr algn="l">
              <a:spcBef>
                <a:spcPts val="400"/>
              </a:spcBef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[2] G. </a:t>
            </a:r>
            <a:r>
              <a:rPr dirty="0" err="1"/>
              <a:t>Karypis</a:t>
            </a:r>
            <a:r>
              <a:rPr dirty="0"/>
              <a:t> and V. Kumar, "A Fast and High Quality Multilevel Scheme for Partitioning Irregular Graphs," SIAM J. Sci. </a:t>
            </a:r>
            <a:r>
              <a:rPr dirty="0" err="1"/>
              <a:t>Comput</a:t>
            </a:r>
            <a:r>
              <a:rPr dirty="0"/>
              <a:t>., 1998.</a:t>
            </a:r>
          </a:p>
          <a:p>
            <a:pPr algn="l">
              <a:spcBef>
                <a:spcPts val="400"/>
              </a:spcBef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[3] S. Robertson and H. Zaragoza, "The Probabilistic Relevance Framework: BM25 and Beyond," </a:t>
            </a:r>
            <a:r>
              <a:rPr dirty="0" err="1"/>
              <a:t>FnT</a:t>
            </a:r>
            <a:r>
              <a:rPr dirty="0"/>
              <a:t> IR, 2009.</a:t>
            </a:r>
          </a:p>
          <a:p>
            <a:pPr algn="l">
              <a:spcBef>
                <a:spcPts val="400"/>
              </a:spcBef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[4] R. Angles and C. Gutierrez, "Survey of Graph Database Models," ACM </a:t>
            </a:r>
            <a:r>
              <a:rPr dirty="0" err="1"/>
              <a:t>Comput</a:t>
            </a:r>
            <a:r>
              <a:rPr dirty="0"/>
              <a:t>. </a:t>
            </a:r>
            <a:r>
              <a:rPr dirty="0" err="1"/>
              <a:t>Surv</a:t>
            </a:r>
            <a:r>
              <a:rPr dirty="0"/>
              <a:t>., 2008.</a:t>
            </a:r>
          </a:p>
          <a:p>
            <a:pPr algn="l">
              <a:spcBef>
                <a:spcPts val="400"/>
              </a:spcBef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[5] C. J. Date, "Twelve Rules for a Distributed Data Base," Computerworld, 1987.</a:t>
            </a:r>
          </a:p>
          <a:p>
            <a:pPr algn="l">
              <a:spcBef>
                <a:spcPts val="400"/>
              </a:spcBef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[6] Whoosh Library Documentation, https://whoosh.readthedocs.io/</a:t>
            </a:r>
          </a:p>
          <a:p>
            <a:pPr algn="l">
              <a:spcBef>
                <a:spcPts val="400"/>
              </a:spcBef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[7] </a:t>
            </a:r>
            <a:r>
              <a:rPr dirty="0" err="1"/>
              <a:t>NetworkX</a:t>
            </a:r>
            <a:r>
              <a:rPr dirty="0"/>
              <a:t> Documentation, https://networkx.org/documentation/stable/</a:t>
            </a:r>
          </a:p>
          <a:p>
            <a:pPr algn="l">
              <a:spcBef>
                <a:spcPts val="400"/>
              </a:spcBef>
              <a:spcAft>
                <a:spcPts val="500"/>
              </a:spcAft>
              <a:defRPr sz="1200" b="0">
                <a:solidFill>
                  <a:srgbClr val="DDE8F5"/>
                </a:solidFill>
                <a:latin typeface="Calibri"/>
              </a:defRPr>
            </a:pPr>
            <a:r>
              <a:rPr dirty="0"/>
              <a:t>[8] METIS Serial Graph Partitioning, http://glaros.dtc.umn.edu/gkhome/metis/metis/overview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Cảm ơn Thầy và các bạn đã lắng nghe!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7A2B8"/>
                </a:solidFill>
                <a:latin typeface="Calibri"/>
              </a:defRPr>
            </a:pPr>
            <a:r>
              <a:t>Q &amp; A  –  Trần Hữu Trung (N23DCCN200)  –  trungth.dev@gmail.com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Mã nguồn: https://github.com/trungth/Hybrid-Document-Graph-Store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3053</Words>
  <Application>Microsoft Office PowerPoint</Application>
  <PresentationFormat>Widescreen</PresentationFormat>
  <Paragraphs>396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Tran Huu Trung</cp:lastModifiedBy>
  <cp:revision>2</cp:revision>
  <dcterms:created xsi:type="dcterms:W3CDTF">2013-01-27T09:14:16Z</dcterms:created>
  <dcterms:modified xsi:type="dcterms:W3CDTF">2026-05-28T09:21:33Z</dcterms:modified>
  <cp:category/>
</cp:coreProperties>
</file>